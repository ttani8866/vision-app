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8FA6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KPR-PRISM ｜ LIGHT EDITION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205740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PR戦略プランナー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2461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一言の案件概要から、共同ピーアールらしい「提案の骨子」を。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当初構想（6職種×約20スキル）から、まずはライト版として先行実装する1エージェントの全体像と進め方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2026.07.26｜社内説明資料（社外秘）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89720" y="301752"/>
            <a:ext cx="23500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EEF1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109115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01　OVERVIEW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KPR-PRISMの概要 — まずは PR戦略プランナー から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26464"/>
            <a:ext cx="10911535" cy="4754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26464"/>
            <a:ext cx="10454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6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方針　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6職種×約20スキルの当初案から、ライト版「PR戦略プランナー」を先行実装する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3291840" cy="301752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243230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BEFORE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2706624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当初案（フル版）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3255264"/>
            <a:ext cx="288950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6職種のAIエージェント×約20スキル。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PR実務を2領域・10業務・64項目に分解した業務台帳と、思想（メディアファースト／メディアリレーションズ／PR SPOTLIGHTS）を全エージェント共通の判断基盤として搭載。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97764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89120" y="2286000"/>
            <a:ext cx="3291840" cy="301752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4590288" y="2432304"/>
            <a:ext cx="2889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REVIEW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90288" y="2706624"/>
            <a:ext cx="28895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レビューで決めたこと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90288" y="3255264"/>
            <a:ext cx="288950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・社員が使うときは、とにかくシンプルに（多様にしない）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・ライト版とフル版を分け、メインはライト版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・「らしさ」はより具体的に定義する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・案件データを取り込めるカスタマイズ性を重視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726680" y="35661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38160" y="2286000"/>
            <a:ext cx="3410712" cy="30175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8339328" y="243230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6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NOW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39328" y="270662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先行実装（本書）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39328" y="3255264"/>
            <a:ext cx="3008376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PR戦略プランナー1職種×10スキルに絞って立ち上げ。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フル版は設計凍結して保管し、ライト版の検証結果を反映してから実装する（二重開発にはならない）。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" y="55778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AIの成果物は「骨子」まで。「おもしろいか」「世に出してよいか」の判断は、必ず人間が行う。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E1E3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KPR-PRISM ライト版｜PR戦略プランナー 社内説明資料（社外秘）　2026.07.26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607040" y="6473952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89720" y="301752"/>
            <a:ext cx="23500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EEF1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109115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02　ARCHITECTURE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PR戦略プランナーの全体像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26464"/>
            <a:ext cx="10911535" cy="4754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26464"/>
            <a:ext cx="10454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6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設計　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入力から出力まで一本道 — 途中の分岐・選択肢の提示をしない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1874520" cy="10515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2350008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49808" y="2770632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CE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案件概要ひと言＋資料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523744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98648" y="2240280"/>
            <a:ext cx="1874520" cy="10515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3" name="Text 11"/>
          <p:cNvSpPr/>
          <p:nvPr/>
        </p:nvSpPr>
        <p:spPr>
          <a:xfrm>
            <a:off x="3008376" y="2350008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与件整理・分析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08376" y="2770632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与件6項目・課題の翻訳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61488" y="334670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参照：KPR-Kikaku-Bunseki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82312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57216" y="2240280"/>
            <a:ext cx="1874520" cy="10515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8" name="Text 16"/>
          <p:cNvSpPr/>
          <p:nvPr/>
        </p:nvSpPr>
        <p:spPr>
          <a:xfrm>
            <a:off x="5266944" y="2350008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骨子作成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66944" y="2770632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戦略・ストーリー・施策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020056" y="334670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参照：KPR-Kikakusho-Sakusei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7040880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415784" y="2240280"/>
            <a:ext cx="1874520" cy="10515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3" name="Text 21"/>
          <p:cNvSpPr/>
          <p:nvPr/>
        </p:nvSpPr>
        <p:spPr>
          <a:xfrm>
            <a:off x="7525512" y="2350008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出力前チェック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525512" y="2770632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らしさ・ニュース価値・NG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278624" y="3346704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参照：KPR-NewsValue-Kensho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9299448" y="25603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674352" y="2240280"/>
            <a:ext cx="1874520" cy="10515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9784080" y="2350008"/>
            <a:ext cx="16550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出力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784080" y="2770632"/>
            <a:ext cx="1655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DCE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骨子1本（固定様式）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40080" y="3977640"/>
            <a:ext cx="3410712" cy="17373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" y="412394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 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41248" y="439826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質問は最大3つ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41248" y="494690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与件の「課題」「予算」が埋まらないときだけ確認。埋まらない欄は骨子末尾の「未確定事項」に回し、止まらない。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389120" y="3977640"/>
            <a:ext cx="3410712" cy="17373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5" name="Text 33"/>
          <p:cNvSpPr/>
          <p:nvPr/>
        </p:nvSpPr>
        <p:spPr>
          <a:xfrm>
            <a:off x="4590288" y="412394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 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90288" y="439826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骨子は固定フォーマット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590288" y="494690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社会文脈・想定メディア・想定見出し・SPOTLIGHTSタグなど10欄。アウトプットは常にこの1種のみ。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138160" y="3977640"/>
            <a:ext cx="3410712" cy="17373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9" name="Text 37"/>
          <p:cNvSpPr/>
          <p:nvPr/>
        </p:nvSpPr>
        <p:spPr>
          <a:xfrm>
            <a:off x="8339328" y="412394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特徴 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39328" y="439826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案件フォルダ方式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339328" y="4946904"/>
            <a:ext cx="300837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brief.md＋data/ を置くだけで案件データを反映。2回目以降は前回骨子を踏まえて改訂版を作る。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40080" y="58704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説明なしで2回目が使えること——操作を覚えさせないことを、シンプルさの合格基準とする。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E1E3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KPR-PRISM ライト版｜PR戦略プランナー 社内説明資料（社外秘）　2026.07.26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607040" y="6473952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89720" y="301752"/>
            <a:ext cx="23500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EEF1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109115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03　AGENT MD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PR戦略プランナー：エージェントmdの構造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26464"/>
            <a:ext cx="10911535" cy="4754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26464"/>
            <a:ext cx="10454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6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要点　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「らしさ」を判断基盤としてmd本文に内蔵する — 1ファイル完結の8セクション構成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mdの8セクション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48716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48716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位置づけ（骨子まで・判断は人間）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880360"/>
            <a:ext cx="4754880" cy="0"/>
          </a:xfrm>
          <a:prstGeom prst="line">
            <a:avLst/>
          </a:prstGeom>
          <a:noFill/>
          <a:ln w="6350">
            <a:solidFill>
              <a:srgbClr val="E1E3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0779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9077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らしさ — すべての判断の土台（右の8項目）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0080" y="3300984"/>
            <a:ext cx="4754880" cy="0"/>
          </a:xfrm>
          <a:prstGeom prst="line">
            <a:avLst/>
          </a:prstGeom>
          <a:noFill/>
          <a:ln w="6350">
            <a:solidFill>
              <a:srgbClr val="E1E3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2841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32841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動き方（一本道フロー）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" y="3721608"/>
            <a:ext cx="4754880" cy="0"/>
          </a:xfrm>
          <a:prstGeom prst="line">
            <a:avLst/>
          </a:prstGeom>
          <a:noFill/>
          <a:ln w="6350">
            <a:solidFill>
              <a:srgbClr val="E1E3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4904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骨子の固定フォーマット（10欄）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142232"/>
            <a:ext cx="4754880" cy="0"/>
          </a:xfrm>
          <a:prstGeom prst="line">
            <a:avLst/>
          </a:prstGeom>
          <a:noFill/>
          <a:ln w="6350">
            <a:solidFill>
              <a:srgbClr val="E1E3E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169664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16966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スキル10本の使い分け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562856"/>
            <a:ext cx="4754880" cy="0"/>
          </a:xfrm>
          <a:prstGeom prst="line">
            <a:avLst/>
          </a:prstGeom>
          <a:noFill/>
          <a:ln w="6350">
            <a:solidFill>
              <a:srgbClr val="E1E3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590288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5840" y="459028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カスタマイズ（案件フォルダ方式）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983480"/>
            <a:ext cx="4754880" cy="0"/>
          </a:xfrm>
          <a:prstGeom prst="line">
            <a:avLst/>
          </a:prstGeom>
          <a:noFill/>
          <a:ln w="6350">
            <a:solidFill>
              <a:srgbClr val="E1E3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5010912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05840" y="5010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停止基準（作らずに確認する5条件）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404104"/>
            <a:ext cx="4754880" cy="0"/>
          </a:xfrm>
          <a:prstGeom prst="line">
            <a:avLst/>
          </a:prstGeom>
          <a:noFill/>
          <a:ln w="6350">
            <a:solidFill>
              <a:srgbClr val="E1E3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5431536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5431536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シンプル原則（質問最大3つ・推奨1案）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943600" y="2148840"/>
            <a:ext cx="5605272" cy="352044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33" name="Text 31"/>
          <p:cNvSpPr/>
          <p:nvPr/>
        </p:nvSpPr>
        <p:spPr>
          <a:xfrm>
            <a:off x="6172200" y="2304288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「らしさ」8項目 — 教本（企業広報）から抽出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2651760"/>
            <a:ext cx="51480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1. PRの定義：ステークホルダーとの良い関係＝「良い評判」を作る活動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2. メディアファースト：報道の決定権は100%メディア側。記者が取り上げたくなることから逆算（想定見出しが書けない企画は不合格）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3. メディアリレーションズ：礼儀正しく、誠実に、正直に、人間らしく。掲載保証・掲載前チェック要求等のタブー明記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4. ステークホルダー：メディアは増幅装置でありゴールではない。最終的に信頼を得たい相手を骨子冒頭に明記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5. 前提6原則：客観的事実・倫理性・情報公開・ツーウェイ・継続性・企業市民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6. ニュース価値：絶対でなく相対（相場商品）。発表条件6要素で最適化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7. PR SPOTLIGHTS：10視点の正本ファイルを参照し、ストーリー案にタグ付け</a:t>
            </a:r>
            <a:endParaRPr lang="en-US" sz="900" dirty="0"/>
          </a:p>
          <a:p>
            <a:pPr indent="0" marL="0">
              <a:lnSpc>
                <a:spcPts val="130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8. 社会性の翻訳＋発信の3S：社会文脈欄と「なぜ今か」を必須に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58704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各項目は「骨子のどの欄に現れるか」までセットで定義 — らしさを抽象論にしない。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E1E3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KPR-PRISM ライト版｜PR戦略プランナー 社内説明資料（社外秘）　2026.07.26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10607040" y="6473952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89720" y="301752"/>
            <a:ext cx="23500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EEF1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109115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04　SKILLS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スキル一覧（10本）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26464"/>
            <a:ext cx="10911535" cy="4754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26464"/>
            <a:ext cx="10454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6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構成　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メインフローの「企画3スキル」＋ 実務展開の「PRWorks 7スキル」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企画3スキル — 骨子づくりのメインフロー（常時使用）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450592"/>
            <a:ext cx="3291840" cy="12344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KPR-Kikaku-Bunseki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288950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DCE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分析：与件整理・課題の翻訳・3C/STP・露出分析・調査PR成立条件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97764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89120" y="2450592"/>
            <a:ext cx="3291840" cy="12344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KPR-Kikakusho-Sakusei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288950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DCE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作成：戦略導出・PRストーリー開発（SPOTLIGHTS）・施策設計・効果測定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26680" y="2834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138160" y="2450592"/>
            <a:ext cx="3291840" cy="123444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5786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KPR-NewsValue-Kensho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321040" y="2889504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900" dirty="0">
                <a:solidFill>
                  <a:srgbClr val="DCE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検証：ニュース価値・NG・炎上リスクの指摘と改善アドバイス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PRWorks 7スキル — 骨子承認後、成果物名を挙げたときだけ起動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315968"/>
            <a:ext cx="2587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3891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プレスリリース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7240" y="4663440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prworks-pressrelease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410712" y="4315968"/>
            <a:ext cx="2587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43891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ニュースレター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547872" y="4663440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prworks-newsletter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181344" y="4315968"/>
            <a:ext cx="2587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8504" y="43891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取材案内状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18504" y="4663440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prworks-annaijo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8951976" y="4315968"/>
            <a:ext cx="2587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089136" y="438912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メディアリスト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9089136" y="4663440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prworks-medialist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40080" y="5138928"/>
            <a:ext cx="2587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21208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進行台本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7240" y="5486400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prworks-daihon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3410712" y="5138928"/>
            <a:ext cx="2587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521208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運営マニュアル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547872" y="5486400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prworks-unei-manual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181344" y="5138928"/>
            <a:ext cx="258775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1E3E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8504" y="5212080"/>
            <a:ext cx="2313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報告書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318504" y="5486400"/>
            <a:ext cx="23134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prworks-houkokusho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640080" y="589788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10本すべて .claude/skills/&lt;名前&gt;/SKILL.md の公式形式で整備済み（2026.07.26）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E1E3E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KPR-PRISM ライト版｜PR戦略プランナー 社内説明資料（社外秘）　2026.07.26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607040" y="6473952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89720" y="301752"/>
            <a:ext cx="23500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EEF1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109115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05　USE CASES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どのようなシーンで使ってもらうか — 3パターン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737360"/>
            <a:ext cx="3410712" cy="356616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88366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FA6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15798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新規提案・コンペ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2706624"/>
            <a:ext cx="300837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オリエン資料と案件概要を入れて骨子を生成。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DCE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企画会議を「たたき台づくり」からではなく「議論」から始められる。提案の打席数とスピードを増やす、いちばんの本命シーン。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410712" cy="35661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88366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90288" y="215798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既存クライアントの定例ネタ出し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90288" y="2706624"/>
            <a:ext cx="300837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未発表ニュースがなくても、発表済みの情報を社会文脈とSPOTLIGHTSの切り口で再編集。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月次提案・ニュースレターの「ネタ切れ」を解消し、継続的な露出づくりを支える。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38160" y="1737360"/>
            <a:ext cx="3410712" cy="356616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5" name="Text 13"/>
          <p:cNvSpPr/>
          <p:nvPr/>
        </p:nvSpPr>
        <p:spPr>
          <a:xfrm>
            <a:off x="8339328" y="1883664"/>
            <a:ext cx="3008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CASE 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39328" y="2157984"/>
            <a:ext cx="30083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発表会・イベントの実務展開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339328" y="2706624"/>
            <a:ext cx="3008376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骨子承認後、PRWorksスキルで取材案内状・進行台本・運営マニュアル・報告書まで展開。</a:t>
            </a: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endParaRPr lang="en-US" sz="9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企画から実務資料まで、同じ思想（らしさ）が貫かれた一気通貫の支援。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0080" y="562356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いずれも出力は骨子・ドラフトまで。クライアント提出物への仕上げと最終判断は人間が行う。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E1E3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KPR-PRISM ライト版｜PR戦略プランナー 社内説明資料（社外秘）　2026.07.26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0607040" y="6473952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89720" y="301752"/>
            <a:ext cx="235000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0" b="1" dirty="0">
                <a:solidFill>
                  <a:srgbClr val="EEF1F5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640080" y="457200"/>
            <a:ext cx="10911535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66928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06　ROADMAP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40080" y="8412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ブラッシュアップの進め方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426464"/>
            <a:ext cx="10911535" cy="475488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26464"/>
            <a:ext cx="1045433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A6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基準　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判断基準はただひとつ ——「骨子がいいか」。動くものを作り、レビューで磨く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2423160" cy="292608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4505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8FA6C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27249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確定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154680"/>
            <a:ext cx="2057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DCE4E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フォーマット・テンプレート・データ形式を確定：骨子テンプレ／brief.md雛形／案件フォルダの置き方を固め、ダミー案件で骨子が出る状態にする。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081528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465576" y="2286000"/>
            <a:ext cx="2423160" cy="29260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3648456" y="24505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48456" y="27249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テストローンチ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648456" y="3154680"/>
            <a:ext cx="2057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済み案件1〜2件で骨子を生成。実務者が評価表5観点（使える度・らしさ・事実性・時間・シンプルさ）で採点し、人間作の企画書と見比べる。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907024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91072" y="2286000"/>
            <a:ext cx="2423160" cy="29260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19" name="Text 17"/>
          <p:cNvSpPr/>
          <p:nvPr/>
        </p:nvSpPr>
        <p:spPr>
          <a:xfrm>
            <a:off x="6473952" y="24505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73952" y="27249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再検証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73952" y="3154680"/>
            <a:ext cx="2057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レビュー結果をもとに、らしさ定義とスキルを修正→再生成で改善を確認。使える骨子になるまでSTEP 2↔3を回す。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32520" y="34747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116568" y="2286000"/>
            <a:ext cx="2423160" cy="2926080"/>
          </a:xfrm>
          <a:prstGeom prst="rect">
            <a:avLst/>
          </a:prstGeom>
          <a:solidFill>
            <a:srgbClr val="F5F6F8"/>
          </a:solidFill>
          <a:ln/>
        </p:spPr>
      </p:sp>
      <p:sp>
        <p:nvSpPr>
          <p:cNvPr id="24" name="Text 22"/>
          <p:cNvSpPr/>
          <p:nvPr/>
        </p:nvSpPr>
        <p:spPr>
          <a:xfrm>
            <a:off x="9299448" y="2450592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1B3A5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4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299448" y="272491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社内ローンチ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99448" y="3154680"/>
            <a:ext cx="20574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ライト版のみを案内して展開（フル版は必要になった人にだけ開放）。利用実態を見ながら四半期ごとにスキルを増補する。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40080" y="54864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検証で使う実案件（済み案件推奨）の選定が、STEP 2着手の前提。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6419088"/>
            <a:ext cx="10911535" cy="0"/>
          </a:xfrm>
          <a:prstGeom prst="line">
            <a:avLst/>
          </a:prstGeom>
          <a:noFill/>
          <a:ln w="9525">
            <a:solidFill>
              <a:srgbClr val="E1E3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473952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KPR-PRISM ライト版｜PR戦略プランナー 社内説明資料（社外秘）　2026.07.26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0607040" y="6473952"/>
            <a:ext cx="941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8A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2026-07-26T13:51:27Z</dcterms:created>
  <dcterms:modified xsi:type="dcterms:W3CDTF">2026-07-26T13:51:27Z</dcterms:modified>
</cp:coreProperties>
</file>